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Open Sans 1" panose="020B0604020202020204" charset="0"/>
      <p:regular r:id="rId22"/>
    </p:embeddedFont>
    <p:embeddedFont>
      <p:font typeface="Open Sans 1 Bold" panose="020B0604020202020204" charset="0"/>
      <p:regular r:id="rId23"/>
    </p:embeddedFont>
    <p:embeddedFont>
      <p:font typeface="Open Sans 2" panose="020B0604020202020204" charset="0"/>
      <p:regular r:id="rId24"/>
    </p:embeddedFont>
    <p:embeddedFont>
      <p:font typeface="Open Sans 2 Bold" panose="020B0604020202020204" charset="0"/>
      <p:regular r:id="rId25"/>
    </p:embeddedFont>
    <p:embeddedFont>
      <p:font typeface="Poppin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CRONOGRAMA PARA EL DESARROLLO DEL PROYECTO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Hoja1!$A$2:$A$4</c:f>
              <c:strCache>
                <c:ptCount val="3"/>
                <c:pt idx="0">
                  <c:v>Fase 1</c:v>
                </c:pt>
                <c:pt idx="1">
                  <c:v>Fase 2</c:v>
                </c:pt>
                <c:pt idx="2">
                  <c:v>Fase 3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4</c:v>
                </c:pt>
                <c:pt idx="1">
                  <c:v>11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29-410E-8EF1-7FEFF127E5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82317487"/>
        <c:axId val="1382317007"/>
      </c:barChart>
      <c:catAx>
        <c:axId val="13823174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382317007"/>
        <c:crosses val="autoZero"/>
        <c:auto val="1"/>
        <c:lblAlgn val="ctr"/>
        <c:lblOffset val="100"/>
        <c:noMultiLvlLbl val="0"/>
      </c:catAx>
      <c:valAx>
        <c:axId val="13823170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382317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57F5E-F078-438B-877E-A08842FEF1D5}" type="datetimeFigureOut">
              <a:rPr lang="es-CL" smtClean="0"/>
              <a:t>03-12-2025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56835-25E6-4815-8CAA-26A8E7216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299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56835-25E6-4815-8CAA-26A8E721688A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761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089" y="2571981"/>
            <a:ext cx="8958851" cy="5607942"/>
          </a:xfrm>
          <a:prstGeom prst="rect">
            <a:avLst/>
          </a:prstGeom>
        </p:spPr>
      </p:pic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539689" y="2309952"/>
            <a:ext cx="3026354" cy="5988161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158" b="-15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5466046" cy="1339362"/>
          </a:xfrm>
          <a:custGeom>
            <a:avLst/>
            <a:gdLst/>
            <a:ahLst/>
            <a:cxnLst/>
            <a:rect l="l" t="t" r="r" b="b"/>
            <a:pathLst>
              <a:path w="5466046" h="1339362">
                <a:moveTo>
                  <a:pt x="0" y="0"/>
                </a:moveTo>
                <a:lnTo>
                  <a:pt x="5466046" y="0"/>
                </a:lnTo>
                <a:lnTo>
                  <a:pt x="5466046" y="1339362"/>
                </a:lnTo>
                <a:lnTo>
                  <a:pt x="0" y="1339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5589819" y="2907663"/>
            <a:ext cx="5080543" cy="2137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83"/>
              </a:lnSpc>
              <a:spcBef>
                <a:spcPct val="0"/>
              </a:spcBef>
            </a:pPr>
            <a:r>
              <a:rPr lang="en-US" sz="11845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Ticket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25316" y="4140727"/>
            <a:ext cx="3824585" cy="2137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83"/>
              </a:lnSpc>
              <a:spcBef>
                <a:spcPct val="0"/>
              </a:spcBef>
            </a:pPr>
            <a:r>
              <a:rPr lang="en-US" sz="11845" b="1" dirty="0">
                <a:solidFill>
                  <a:srgbClr val="15A939"/>
                </a:solidFill>
                <a:latin typeface="Poppins Bold"/>
                <a:ea typeface="Poppins Bold"/>
                <a:cs typeface="Poppins Bold"/>
                <a:sym typeface="Poppins Bold"/>
              </a:rPr>
              <a:t>Fast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4452" y="8317963"/>
            <a:ext cx="5240294" cy="86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KEILA MARTINEZ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INGENIERÍA EN INFORMÁTICA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48226C-5AC0-E2F3-B733-ABB8476381BB}"/>
              </a:ext>
            </a:extLst>
          </p:cNvPr>
          <p:cNvSpPr txBox="1"/>
          <p:nvPr/>
        </p:nvSpPr>
        <p:spPr>
          <a:xfrm>
            <a:off x="5736151" y="6193211"/>
            <a:ext cx="6815698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ea typeface="Open Sans 1"/>
                <a:cs typeface="Arial" panose="020B0604020202020204" pitchFamily="34" charset="0"/>
                <a:sym typeface="Open Sans 1"/>
              </a:rPr>
              <a:t>Sistema Inteligente de Gestión de Tickets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908189" y="2777527"/>
            <a:ext cx="1042538" cy="47625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470" y="3595903"/>
            <a:ext cx="677751" cy="6777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70442" y="3742274"/>
            <a:ext cx="677751" cy="67775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38126" y="6457797"/>
            <a:ext cx="677751" cy="67775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03099" y="6361598"/>
            <a:ext cx="677751" cy="67775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927240" y="2057698"/>
            <a:ext cx="782636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SITUACIÓN ACTUAL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757" y="3745865"/>
            <a:ext cx="5507473" cy="19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SOBRECARGA DEL EQUIPO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3+ canales sin centralizar: WhatsApp, Llamadas, dialogo de pasillo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60% del tiempo en tareas manuales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50-80 tickets diarios dispersos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996290" y="3771900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17730" y="3771900"/>
            <a:ext cx="5334000" cy="19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INSATISFACCIÓN DE CLIENTES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Tiempo promedio de respuesta: 4-6 horas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35% de tickets sin seguimiento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25% de tickets duplicados o perdidos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361262" y="391827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85414" y="6481292"/>
            <a:ext cx="6094710" cy="19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FALTA DE TRAZABILIDAD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40% de tickets sin historial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Sin registro de quién atendió cada ticket</a:t>
            </a:r>
          </a:p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Imposible generar reportes de rendimiento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028946" y="6633795"/>
            <a:ext cx="496110" cy="297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47549" y="6528071"/>
            <a:ext cx="6094710" cy="19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TIEMPO EXCESIVO DE GESTIÓN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2.5-3 horas diarias en gestión manual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15 min promedio por ticket en tareas administrativas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Sin automatización de priorización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393919" y="653759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7996814" y="2628900"/>
            <a:ext cx="2696980" cy="5336438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58" b="-15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832689" y="2220077"/>
            <a:ext cx="1042538" cy="47625"/>
            <a:chOff x="0" y="0"/>
            <a:chExt cx="274578" cy="1254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863979" y="3269874"/>
            <a:ext cx="677751" cy="67775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207993" y="3269874"/>
            <a:ext cx="677751" cy="67775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863979" y="5486400"/>
            <a:ext cx="677751" cy="67775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207993" y="5486400"/>
            <a:ext cx="677751" cy="677751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810598" y="1491951"/>
            <a:ext cx="7929878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PROPUESTA DE SOLUCIÓN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811267" y="3231774"/>
            <a:ext cx="4986121" cy="15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000" b="1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CENTRALIZACIÓN DE SOLICITUDES</a:t>
            </a:r>
          </a:p>
          <a:p>
            <a:pPr marL="342900" indent="-3429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Todos los canales en un solo lugar</a:t>
            </a:r>
          </a:p>
          <a:p>
            <a:pPr marL="342900" indent="-3429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Historial completo de cada ticket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954799" y="344587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155281" y="3231774"/>
            <a:ext cx="4986121" cy="1166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AUTENTICACIÓN SEGURA POR ROLES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Supabase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Auth + RLS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Acceso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diferenciado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por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rol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298813" y="344587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11267" y="5448300"/>
            <a:ext cx="4580133" cy="2660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PRIORIZACIÓN AUTOMÁTICA DE TICKETS</a:t>
            </a:r>
          </a:p>
          <a:p>
            <a:pPr marL="342900" indent="-3429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Sistema basado en reglas y palabras clave</a:t>
            </a:r>
          </a:p>
          <a:p>
            <a:pPr marL="342900" indent="-3429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Asignación inteligente de prioridad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954799" y="5662398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55281" y="5448300"/>
            <a:ext cx="5218319" cy="15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DASHBOARD CON MÉTRICAS EN TIEMPO REAL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Gráficos con </a:t>
            </a:r>
            <a:r>
              <a:rPr lang="es-E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Recharts</a:t>
            </a:r>
            <a:endParaRPr lang="es-E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Reportes de rendimiento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298813" y="5662398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070960" y="2284615"/>
            <a:ext cx="1042538" cy="47625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70960" y="3029716"/>
            <a:ext cx="5490232" cy="6117238"/>
            <a:chOff x="0" y="0"/>
            <a:chExt cx="954061" cy="10630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061" cy="1063019"/>
            </a:xfrm>
            <a:custGeom>
              <a:avLst/>
              <a:gdLst/>
              <a:ahLst/>
              <a:cxnLst/>
              <a:rect l="l" t="t" r="r" b="b"/>
              <a:pathLst>
                <a:path w="954061" h="1063019">
                  <a:moveTo>
                    <a:pt x="38073" y="0"/>
                  </a:moveTo>
                  <a:lnTo>
                    <a:pt x="915988" y="0"/>
                  </a:lnTo>
                  <a:cubicBezTo>
                    <a:pt x="937015" y="0"/>
                    <a:pt x="954061" y="17046"/>
                    <a:pt x="954061" y="38073"/>
                  </a:cubicBezTo>
                  <a:lnTo>
                    <a:pt x="954061" y="1024945"/>
                  </a:lnTo>
                  <a:cubicBezTo>
                    <a:pt x="954061" y="1045973"/>
                    <a:pt x="937015" y="1063019"/>
                    <a:pt x="915988" y="1063019"/>
                  </a:cubicBezTo>
                  <a:lnTo>
                    <a:pt x="38073" y="1063019"/>
                  </a:lnTo>
                  <a:cubicBezTo>
                    <a:pt x="17046" y="1063019"/>
                    <a:pt x="0" y="1045973"/>
                    <a:pt x="0" y="1024945"/>
                  </a:cubicBezTo>
                  <a:lnTo>
                    <a:pt x="0" y="38073"/>
                  </a:lnTo>
                  <a:cubicBezTo>
                    <a:pt x="0" y="17046"/>
                    <a:pt x="17046" y="0"/>
                    <a:pt x="38073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4061" cy="1110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99248" y="3029716"/>
            <a:ext cx="6117238" cy="611723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4171" y="0"/>
                  </a:moveTo>
                  <a:lnTo>
                    <a:pt x="778629" y="0"/>
                  </a:lnTo>
                  <a:cubicBezTo>
                    <a:pt x="787692" y="0"/>
                    <a:pt x="796383" y="3600"/>
                    <a:pt x="802792" y="10008"/>
                  </a:cubicBezTo>
                  <a:cubicBezTo>
                    <a:pt x="809200" y="16417"/>
                    <a:pt x="812800" y="25108"/>
                    <a:pt x="812800" y="34171"/>
                  </a:cubicBezTo>
                  <a:lnTo>
                    <a:pt x="812800" y="778629"/>
                  </a:lnTo>
                  <a:cubicBezTo>
                    <a:pt x="812800" y="787692"/>
                    <a:pt x="809200" y="796383"/>
                    <a:pt x="802792" y="802792"/>
                  </a:cubicBezTo>
                  <a:cubicBezTo>
                    <a:pt x="796383" y="809200"/>
                    <a:pt x="787692" y="812800"/>
                    <a:pt x="778629" y="812800"/>
                  </a:cubicBezTo>
                  <a:lnTo>
                    <a:pt x="34171" y="812800"/>
                  </a:lnTo>
                  <a:cubicBezTo>
                    <a:pt x="25108" y="812800"/>
                    <a:pt x="16417" y="809200"/>
                    <a:pt x="10008" y="802792"/>
                  </a:cubicBezTo>
                  <a:cubicBezTo>
                    <a:pt x="3600" y="796383"/>
                    <a:pt x="0" y="787692"/>
                    <a:pt x="0" y="778629"/>
                  </a:cubicBezTo>
                  <a:lnTo>
                    <a:pt x="0" y="34171"/>
                  </a:lnTo>
                  <a:cubicBezTo>
                    <a:pt x="0" y="25108"/>
                    <a:pt x="3600" y="16417"/>
                    <a:pt x="10008" y="10008"/>
                  </a:cubicBezTo>
                  <a:cubicBezTo>
                    <a:pt x="16417" y="3600"/>
                    <a:pt x="25108" y="0"/>
                    <a:pt x="34171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308817" y="4662921"/>
            <a:ext cx="672117" cy="556024"/>
          </a:xfrm>
          <a:custGeom>
            <a:avLst/>
            <a:gdLst/>
            <a:ahLst/>
            <a:cxnLst/>
            <a:rect l="l" t="t" r="r" b="b"/>
            <a:pathLst>
              <a:path w="672117" h="556024">
                <a:moveTo>
                  <a:pt x="0" y="0"/>
                </a:moveTo>
                <a:lnTo>
                  <a:pt x="672116" y="0"/>
                </a:lnTo>
                <a:lnTo>
                  <a:pt x="672116" y="556023"/>
                </a:lnTo>
                <a:lnTo>
                  <a:pt x="0" y="556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4065015" y="6772933"/>
            <a:ext cx="1580338" cy="1580338"/>
          </a:xfrm>
          <a:custGeom>
            <a:avLst/>
            <a:gdLst/>
            <a:ahLst/>
            <a:cxnLst/>
            <a:rect l="l" t="t" r="r" b="b"/>
            <a:pathLst>
              <a:path w="1580338" h="1580338">
                <a:moveTo>
                  <a:pt x="0" y="0"/>
                </a:moveTo>
                <a:lnTo>
                  <a:pt x="1580337" y="0"/>
                </a:lnTo>
                <a:lnTo>
                  <a:pt x="1580337" y="1580337"/>
                </a:lnTo>
                <a:lnTo>
                  <a:pt x="0" y="1580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2070960" y="1297839"/>
            <a:ext cx="8020662" cy="73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DEL PROYECTO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92229" y="4085728"/>
            <a:ext cx="4215607" cy="152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Sistema trazable y seguro para soporte técnico en hoteles.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2499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592229" y="3203835"/>
            <a:ext cx="2945572" cy="44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2577" b="1">
                <a:solidFill>
                  <a:srgbClr val="15A93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Objetivo General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59215" y="4778816"/>
            <a:ext cx="5957271" cy="4010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•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Requerimiento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funcional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y no 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funcional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3532"/>
              </a:lnSpc>
            </a:pP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•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Prototipo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3532"/>
              </a:lnSpc>
            </a:pP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•CRUD de tickets con Next.js</a:t>
            </a:r>
          </a:p>
          <a:p>
            <a:pPr>
              <a:lnSpc>
                <a:spcPts val="3532"/>
              </a:lnSpc>
            </a:pP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•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Autenticación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por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rol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(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Supabase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Auth + RLS).</a:t>
            </a:r>
          </a:p>
          <a:p>
            <a:pPr>
              <a:lnSpc>
                <a:spcPts val="3532"/>
              </a:lnSpc>
            </a:pP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•Dashboard con 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métricas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(</a:t>
            </a:r>
            <a:r>
              <a:rPr lang="es-CL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</a:rPr>
              <a:t>Recharts</a:t>
            </a:r>
            <a:r>
              <a:rPr lang="es-CL" dirty="0"/>
              <a:t> 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).</a:t>
            </a:r>
          </a:p>
          <a:p>
            <a:pPr algn="l">
              <a:lnSpc>
                <a:spcPts val="3532"/>
              </a:lnSpc>
            </a:pP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•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Pruebas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523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automatizadas</a:t>
            </a:r>
            <a:r>
              <a:rPr lang="en-US" sz="2523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3532"/>
              </a:lnSpc>
              <a:spcBef>
                <a:spcPct val="0"/>
              </a:spcBef>
            </a:pPr>
            <a:endParaRPr lang="en-US" sz="2523" dirty="0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536929" y="3628366"/>
            <a:ext cx="4362108" cy="579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9"/>
              </a:lnSpc>
              <a:spcBef>
                <a:spcPct val="0"/>
              </a:spcBef>
            </a:pPr>
            <a:r>
              <a:rPr lang="en-US" sz="337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ObjetivosEspecíficos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4847" y="2958049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27240" y="2057698"/>
            <a:ext cx="13094534" cy="73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ALCANCES Y LIMITACIONES DEL PROYECTO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398679" y="3564985"/>
            <a:ext cx="677751" cy="67775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345967" y="3526885"/>
            <a:ext cx="250167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Gestión completa de tickets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489499" y="374098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398679" y="5842731"/>
            <a:ext cx="677751" cy="67775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489499" y="601872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3129" y="5804631"/>
            <a:ext cx="2243577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Dashboard con métricas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3398679" y="7998039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A939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255146" y="7959939"/>
            <a:ext cx="2243577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Seguridad con RLS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489499" y="8174037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755294" y="3564985"/>
            <a:ext cx="677751" cy="67775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702582" y="3671451"/>
            <a:ext cx="2243577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Sin integración externa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846115" y="374098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755294" y="5842731"/>
            <a:ext cx="677751" cy="677751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846115" y="601872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99745" y="5973859"/>
            <a:ext cx="4692655" cy="1563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IA sin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aprendizaje</a:t>
            </a:r>
            <a:r>
              <a:rPr lang="en-U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199" dirty="0" err="1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automático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342900" indent="-342900">
              <a:lnSpc>
                <a:spcPts val="3079"/>
              </a:lnSpc>
              <a:buFont typeface="Arial" panose="020B0604020202020204" pitchFamily="34" charset="0"/>
              <a:buChar char="•"/>
            </a:pPr>
            <a:r>
              <a:rPr lang="es-ES" sz="2199" dirty="0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Priorización basada en reglas y palabras clave</a:t>
            </a: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9755294" y="7998039"/>
            <a:ext cx="677751" cy="67775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699745" y="8104505"/>
            <a:ext cx="2759771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Open Sans 1"/>
                <a:ea typeface="Open Sans 1"/>
                <a:cs typeface="Open Sans 1"/>
                <a:sym typeface="Open Sans 1"/>
              </a:rPr>
              <a:t>Sin notificaciones push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1F202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846115" y="8174037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28700" y="2323425"/>
            <a:ext cx="1407372" cy="64291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981075"/>
            <a:ext cx="11151202" cy="98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3"/>
              </a:lnSpc>
            </a:pPr>
            <a:r>
              <a:rPr lang="en-US" sz="6156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 DE TRABAJO</a:t>
            </a:r>
          </a:p>
        </p:txBody>
      </p:sp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4FE06F00-5F0D-E323-B77B-8332FE26D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779" y="2577974"/>
            <a:ext cx="14632442" cy="7411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  <a:solidFill>
            <a:srgbClr val="00B050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>
                <a:solidFill>
                  <a:srgbClr val="00B050"/>
                </a:solidFill>
                <a:highlight>
                  <a:srgbClr val="008000"/>
                </a:highlight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rgbClr val="00B050"/>
                </a:solidFill>
                <a:highlight>
                  <a:srgbClr val="008000"/>
                </a:highlight>
              </a:endParaRPr>
            </a:p>
          </p:txBody>
        </p:sp>
      </p:grpSp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AB5DCF97-9F7A-9190-CE43-16320601F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2359784"/>
              </p:ext>
            </p:extLst>
          </p:nvPr>
        </p:nvGraphicFramePr>
        <p:xfrm>
          <a:off x="914400" y="800026"/>
          <a:ext cx="12192000" cy="81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CuadroTexto 26">
            <a:extLst>
              <a:ext uri="{FF2B5EF4-FFF2-40B4-BE49-F238E27FC236}">
                <a16:creationId xmlns:a16="http://schemas.microsoft.com/office/drawing/2014/main" id="{8CE7EC3B-A7FA-16FC-CEFF-47AAA34CAD56}"/>
              </a:ext>
            </a:extLst>
          </p:cNvPr>
          <p:cNvSpPr txBox="1"/>
          <p:nvPr/>
        </p:nvSpPr>
        <p:spPr>
          <a:xfrm>
            <a:off x="13716000" y="1714500"/>
            <a:ext cx="4038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FASE 1: ANÁLISIS Y DISEÑO</a:t>
            </a:r>
            <a:r>
              <a:rPr lang="es-ES" sz="2000" dirty="0"/>
              <a:t> </a:t>
            </a:r>
          </a:p>
          <a:p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Requerimientos funcionales y no funcionales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Diseño de base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Prototipo de interfaz</a:t>
            </a:r>
          </a:p>
          <a:p>
            <a:endParaRPr lang="es-ES" sz="2000" dirty="0"/>
          </a:p>
          <a:p>
            <a:r>
              <a:rPr lang="es-ES" sz="2000" b="1" dirty="0"/>
              <a:t>FASE 2: IMPLEMENTACIÓN FUNCIONAL </a:t>
            </a:r>
          </a:p>
          <a:p>
            <a:endParaRPr lang="es-E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CRUD de tickets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Autenticación (</a:t>
            </a:r>
            <a:r>
              <a:rPr lang="es-ES" sz="2000" dirty="0" err="1"/>
              <a:t>Supabase</a:t>
            </a:r>
            <a:r>
              <a:rPr lang="es-ES" sz="2000" dirty="0"/>
              <a:t> </a:t>
            </a:r>
            <a:r>
              <a:rPr lang="es-ES" sz="2000" dirty="0" err="1"/>
              <a:t>Auth</a:t>
            </a:r>
            <a:r>
              <a:rPr lang="es-ES" sz="2000" dirty="0"/>
              <a:t> + RLS)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/>
              <a:t>Dashboard</a:t>
            </a:r>
            <a:r>
              <a:rPr lang="es-ES" sz="2000" dirty="0"/>
              <a:t> con métricas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Priorización automática</a:t>
            </a:r>
          </a:p>
          <a:p>
            <a:endParaRPr lang="es-ES" sz="2000" b="1" dirty="0"/>
          </a:p>
          <a:p>
            <a:r>
              <a:rPr lang="es-ES" sz="2000" b="1" dirty="0"/>
              <a:t>FASE 3: INTEGRACIÓN Y CIERRE </a:t>
            </a:r>
          </a:p>
          <a:p>
            <a:endParaRPr lang="es-E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Pruebas y correcciones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Documentación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Presentación final</a:t>
            </a:r>
            <a:endParaRPr lang="es-CL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61090" y="2017319"/>
            <a:ext cx="1042538" cy="47625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61718"/>
            <a:ext cx="10522749" cy="73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DEL SOFTWARE</a:t>
            </a:r>
          </a:p>
        </p:txBody>
      </p:sp>
      <p:sp>
        <p:nvSpPr>
          <p:cNvPr id="9" name="Freeform 9"/>
          <p:cNvSpPr/>
          <p:nvPr/>
        </p:nvSpPr>
        <p:spPr>
          <a:xfrm>
            <a:off x="1670216" y="5403235"/>
            <a:ext cx="810561" cy="881626"/>
          </a:xfrm>
          <a:custGeom>
            <a:avLst/>
            <a:gdLst/>
            <a:ahLst/>
            <a:cxnLst/>
            <a:rect l="l" t="t" r="r" b="b"/>
            <a:pathLst>
              <a:path w="810561" h="881626">
                <a:moveTo>
                  <a:pt x="0" y="0"/>
                </a:moveTo>
                <a:lnTo>
                  <a:pt x="810561" y="0"/>
                </a:lnTo>
                <a:lnTo>
                  <a:pt x="810561" y="881627"/>
                </a:lnTo>
                <a:lnTo>
                  <a:pt x="0" y="881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2903627" y="2807724"/>
            <a:ext cx="3086100" cy="6072648"/>
            <a:chOff x="0" y="0"/>
            <a:chExt cx="812800" cy="1599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08827" y="2807724"/>
            <a:ext cx="3086100" cy="6072648"/>
            <a:chOff x="0" y="0"/>
            <a:chExt cx="812800" cy="15993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970256" y="2807724"/>
            <a:ext cx="3086100" cy="6072648"/>
            <a:chOff x="0" y="0"/>
            <a:chExt cx="812800" cy="15993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31684" y="2807724"/>
            <a:ext cx="3086100" cy="6072648"/>
            <a:chOff x="0" y="0"/>
            <a:chExt cx="812800" cy="159938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6081628" y="5824998"/>
            <a:ext cx="23529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23" name="AutoShape 23"/>
          <p:cNvSpPr/>
          <p:nvPr/>
        </p:nvSpPr>
        <p:spPr>
          <a:xfrm flipV="1">
            <a:off x="13151606" y="5786898"/>
            <a:ext cx="23529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24" name="AutoShape 24"/>
          <p:cNvSpPr/>
          <p:nvPr/>
        </p:nvSpPr>
        <p:spPr>
          <a:xfrm flipV="1">
            <a:off x="9614942" y="5805948"/>
            <a:ext cx="23529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>
            <a:off x="7173708" y="4279298"/>
            <a:ext cx="1556339" cy="1199796"/>
          </a:xfrm>
          <a:custGeom>
            <a:avLst/>
            <a:gdLst/>
            <a:ahLst/>
            <a:cxnLst/>
            <a:rect l="l" t="t" r="r" b="b"/>
            <a:pathLst>
              <a:path w="1556339" h="1199796">
                <a:moveTo>
                  <a:pt x="0" y="0"/>
                </a:moveTo>
                <a:lnTo>
                  <a:pt x="1556339" y="0"/>
                </a:lnTo>
                <a:lnTo>
                  <a:pt x="1556339" y="1199795"/>
                </a:lnTo>
                <a:lnTo>
                  <a:pt x="0" y="1199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>
            <a:off x="3951489" y="3980637"/>
            <a:ext cx="990378" cy="597321"/>
          </a:xfrm>
          <a:custGeom>
            <a:avLst/>
            <a:gdLst/>
            <a:ahLst/>
            <a:cxnLst/>
            <a:rect l="l" t="t" r="r" b="b"/>
            <a:pathLst>
              <a:path w="990378" h="597321">
                <a:moveTo>
                  <a:pt x="0" y="0"/>
                </a:moveTo>
                <a:lnTo>
                  <a:pt x="990377" y="0"/>
                </a:lnTo>
                <a:lnTo>
                  <a:pt x="990377" y="597321"/>
                </a:lnTo>
                <a:lnTo>
                  <a:pt x="0" y="597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7" name="Freeform 27"/>
          <p:cNvSpPr/>
          <p:nvPr/>
        </p:nvSpPr>
        <p:spPr>
          <a:xfrm>
            <a:off x="3951489" y="4907981"/>
            <a:ext cx="938650" cy="878918"/>
          </a:xfrm>
          <a:custGeom>
            <a:avLst/>
            <a:gdLst/>
            <a:ahLst/>
            <a:cxnLst/>
            <a:rect l="l" t="t" r="r" b="b"/>
            <a:pathLst>
              <a:path w="938650" h="878918">
                <a:moveTo>
                  <a:pt x="0" y="0"/>
                </a:moveTo>
                <a:lnTo>
                  <a:pt x="938650" y="0"/>
                </a:lnTo>
                <a:lnTo>
                  <a:pt x="938650" y="878917"/>
                </a:lnTo>
                <a:lnTo>
                  <a:pt x="0" y="878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8" name="Freeform 28"/>
          <p:cNvSpPr/>
          <p:nvPr/>
        </p:nvSpPr>
        <p:spPr>
          <a:xfrm>
            <a:off x="3951489" y="6168030"/>
            <a:ext cx="990378" cy="990378"/>
          </a:xfrm>
          <a:custGeom>
            <a:avLst/>
            <a:gdLst/>
            <a:ahLst/>
            <a:cxnLst/>
            <a:rect l="l" t="t" r="r" b="b"/>
            <a:pathLst>
              <a:path w="990378" h="990378">
                <a:moveTo>
                  <a:pt x="0" y="0"/>
                </a:moveTo>
                <a:lnTo>
                  <a:pt x="990377" y="0"/>
                </a:lnTo>
                <a:lnTo>
                  <a:pt x="990377" y="990378"/>
                </a:lnTo>
                <a:lnTo>
                  <a:pt x="0" y="9903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9" name="Freeform 29"/>
          <p:cNvSpPr/>
          <p:nvPr/>
        </p:nvSpPr>
        <p:spPr>
          <a:xfrm>
            <a:off x="3951489" y="7626435"/>
            <a:ext cx="990378" cy="693264"/>
          </a:xfrm>
          <a:custGeom>
            <a:avLst/>
            <a:gdLst/>
            <a:ahLst/>
            <a:cxnLst/>
            <a:rect l="l" t="t" r="r" b="b"/>
            <a:pathLst>
              <a:path w="990378" h="693264">
                <a:moveTo>
                  <a:pt x="0" y="0"/>
                </a:moveTo>
                <a:lnTo>
                  <a:pt x="990377" y="0"/>
                </a:lnTo>
                <a:lnTo>
                  <a:pt x="990377" y="693265"/>
                </a:lnTo>
                <a:lnTo>
                  <a:pt x="0" y="6932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0" name="Freeform 30"/>
          <p:cNvSpPr/>
          <p:nvPr/>
        </p:nvSpPr>
        <p:spPr>
          <a:xfrm>
            <a:off x="10739066" y="4132743"/>
            <a:ext cx="1492905" cy="1492905"/>
          </a:xfrm>
          <a:custGeom>
            <a:avLst/>
            <a:gdLst/>
            <a:ahLst/>
            <a:cxnLst/>
            <a:rect l="l" t="t" r="r" b="b"/>
            <a:pathLst>
              <a:path w="1492905" h="1492905">
                <a:moveTo>
                  <a:pt x="0" y="0"/>
                </a:moveTo>
                <a:lnTo>
                  <a:pt x="1492905" y="0"/>
                </a:lnTo>
                <a:lnTo>
                  <a:pt x="1492905" y="1492905"/>
                </a:lnTo>
                <a:lnTo>
                  <a:pt x="0" y="149290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1" name="Freeform 31"/>
          <p:cNvSpPr/>
          <p:nvPr/>
        </p:nvSpPr>
        <p:spPr>
          <a:xfrm>
            <a:off x="14388516" y="4419665"/>
            <a:ext cx="1451472" cy="1839537"/>
          </a:xfrm>
          <a:custGeom>
            <a:avLst/>
            <a:gdLst/>
            <a:ahLst/>
            <a:cxnLst/>
            <a:rect l="l" t="t" r="r" b="b"/>
            <a:pathLst>
              <a:path w="1451472" h="1839537">
                <a:moveTo>
                  <a:pt x="0" y="0"/>
                </a:moveTo>
                <a:lnTo>
                  <a:pt x="1451472" y="0"/>
                </a:lnTo>
                <a:lnTo>
                  <a:pt x="1451472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Box 32"/>
          <p:cNvSpPr txBox="1"/>
          <p:nvPr/>
        </p:nvSpPr>
        <p:spPr>
          <a:xfrm>
            <a:off x="3421433" y="3003888"/>
            <a:ext cx="199876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Usuario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22939" y="3003888"/>
            <a:ext cx="307106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Autenticación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70928" y="3003888"/>
            <a:ext cx="136104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API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10720" y="3003888"/>
            <a:ext cx="300706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Base de datos</a:t>
            </a:r>
          </a:p>
        </p:txBody>
      </p:sp>
      <p:sp>
        <p:nvSpPr>
          <p:cNvPr id="36" name="TextBox 36"/>
          <p:cNvSpPr txBox="1"/>
          <p:nvPr/>
        </p:nvSpPr>
        <p:spPr>
          <a:xfrm rot="-5400000">
            <a:off x="7691256" y="6600198"/>
            <a:ext cx="4025521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Token JWT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92625" y="6192528"/>
            <a:ext cx="2318504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Supabase Auth (PKCE)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761702" y="6806573"/>
            <a:ext cx="2705100" cy="113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PostgreSQL con RLS (Row Level Security)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69407" y="6355278"/>
            <a:ext cx="2287797" cy="15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8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API REST automática de Supabase (PostgREST)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76183" y="6408186"/>
            <a:ext cx="998627" cy="36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8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  <a:solidFill>
            <a:srgbClr val="00B050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900352"/>
            <a:ext cx="1042538" cy="47625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2370312"/>
            <a:ext cx="16230600" cy="7437162"/>
          </a:xfrm>
          <a:custGeom>
            <a:avLst/>
            <a:gdLst/>
            <a:ahLst/>
            <a:cxnLst/>
            <a:rect l="l" t="t" r="r" b="b"/>
            <a:pathLst>
              <a:path w="16230600" h="7437162">
                <a:moveTo>
                  <a:pt x="0" y="0"/>
                </a:moveTo>
                <a:lnTo>
                  <a:pt x="16230600" y="0"/>
                </a:lnTo>
                <a:lnTo>
                  <a:pt x="16230600" y="7437162"/>
                </a:lnTo>
                <a:lnTo>
                  <a:pt x="0" y="7437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028700" y="990600"/>
            <a:ext cx="5941567" cy="73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DATOS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8947" y="2017319"/>
            <a:ext cx="1042538" cy="47625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61718"/>
            <a:ext cx="6923177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STACK TECNOLÓGICO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33403" y="2769624"/>
            <a:ext cx="3086100" cy="6072648"/>
            <a:chOff x="0" y="0"/>
            <a:chExt cx="812800" cy="15993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747839" y="2769624"/>
            <a:ext cx="3086100" cy="6072648"/>
            <a:chOff x="0" y="0"/>
            <a:chExt cx="812800" cy="15993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90289" y="2769624"/>
            <a:ext cx="3086100" cy="6072648"/>
            <a:chOff x="0" y="0"/>
            <a:chExt cx="812800" cy="15993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05389" y="2769624"/>
            <a:ext cx="3086100" cy="6072648"/>
            <a:chOff x="0" y="0"/>
            <a:chExt cx="812800" cy="15993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8512719" y="4241198"/>
            <a:ext cx="1556339" cy="1199796"/>
          </a:xfrm>
          <a:custGeom>
            <a:avLst/>
            <a:gdLst/>
            <a:ahLst/>
            <a:cxnLst/>
            <a:rect l="l" t="t" r="r" b="b"/>
            <a:pathLst>
              <a:path w="1556339" h="1199796">
                <a:moveTo>
                  <a:pt x="0" y="0"/>
                </a:moveTo>
                <a:lnTo>
                  <a:pt x="1556339" y="0"/>
                </a:lnTo>
                <a:lnTo>
                  <a:pt x="1556339" y="1199795"/>
                </a:lnTo>
                <a:lnTo>
                  <a:pt x="0" y="1199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>
            <a:off x="2281265" y="3942537"/>
            <a:ext cx="990378" cy="597321"/>
          </a:xfrm>
          <a:custGeom>
            <a:avLst/>
            <a:gdLst/>
            <a:ahLst/>
            <a:cxnLst/>
            <a:rect l="l" t="t" r="r" b="b"/>
            <a:pathLst>
              <a:path w="990378" h="597321">
                <a:moveTo>
                  <a:pt x="0" y="0"/>
                </a:moveTo>
                <a:lnTo>
                  <a:pt x="990377" y="0"/>
                </a:lnTo>
                <a:lnTo>
                  <a:pt x="990377" y="597321"/>
                </a:lnTo>
                <a:lnTo>
                  <a:pt x="0" y="597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2281265" y="4869881"/>
            <a:ext cx="938650" cy="878918"/>
          </a:xfrm>
          <a:custGeom>
            <a:avLst/>
            <a:gdLst/>
            <a:ahLst/>
            <a:cxnLst/>
            <a:rect l="l" t="t" r="r" b="b"/>
            <a:pathLst>
              <a:path w="938650" h="878918">
                <a:moveTo>
                  <a:pt x="0" y="0"/>
                </a:moveTo>
                <a:lnTo>
                  <a:pt x="938650" y="0"/>
                </a:lnTo>
                <a:lnTo>
                  <a:pt x="938650" y="878917"/>
                </a:lnTo>
                <a:lnTo>
                  <a:pt x="0" y="878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2281265" y="6129930"/>
            <a:ext cx="990378" cy="990378"/>
          </a:xfrm>
          <a:custGeom>
            <a:avLst/>
            <a:gdLst/>
            <a:ahLst/>
            <a:cxnLst/>
            <a:rect l="l" t="t" r="r" b="b"/>
            <a:pathLst>
              <a:path w="990378" h="990378">
                <a:moveTo>
                  <a:pt x="0" y="0"/>
                </a:moveTo>
                <a:lnTo>
                  <a:pt x="990377" y="0"/>
                </a:lnTo>
                <a:lnTo>
                  <a:pt x="990377" y="990378"/>
                </a:lnTo>
                <a:lnTo>
                  <a:pt x="0" y="9903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>
            <a:off x="2281265" y="7588335"/>
            <a:ext cx="990378" cy="693264"/>
          </a:xfrm>
          <a:custGeom>
            <a:avLst/>
            <a:gdLst/>
            <a:ahLst/>
            <a:cxnLst/>
            <a:rect l="l" t="t" r="r" b="b"/>
            <a:pathLst>
              <a:path w="990378" h="693264">
                <a:moveTo>
                  <a:pt x="0" y="0"/>
                </a:moveTo>
                <a:lnTo>
                  <a:pt x="990377" y="0"/>
                </a:lnTo>
                <a:lnTo>
                  <a:pt x="990377" y="693265"/>
                </a:lnTo>
                <a:lnTo>
                  <a:pt x="0" y="6932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>
            <a:off x="5259099" y="4094643"/>
            <a:ext cx="1492905" cy="1492905"/>
          </a:xfrm>
          <a:custGeom>
            <a:avLst/>
            <a:gdLst/>
            <a:ahLst/>
            <a:cxnLst/>
            <a:rect l="l" t="t" r="r" b="b"/>
            <a:pathLst>
              <a:path w="1492905" h="1492905">
                <a:moveTo>
                  <a:pt x="0" y="0"/>
                </a:moveTo>
                <a:lnTo>
                  <a:pt x="1492905" y="0"/>
                </a:lnTo>
                <a:lnTo>
                  <a:pt x="1492905" y="1492905"/>
                </a:lnTo>
                <a:lnTo>
                  <a:pt x="0" y="14929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7" name="Freeform 27"/>
          <p:cNvSpPr/>
          <p:nvPr/>
        </p:nvSpPr>
        <p:spPr>
          <a:xfrm>
            <a:off x="11862221" y="4381565"/>
            <a:ext cx="1451472" cy="1839537"/>
          </a:xfrm>
          <a:custGeom>
            <a:avLst/>
            <a:gdLst/>
            <a:ahLst/>
            <a:cxnLst/>
            <a:rect l="l" t="t" r="r" b="b"/>
            <a:pathLst>
              <a:path w="1451472" h="1839537">
                <a:moveTo>
                  <a:pt x="0" y="0"/>
                </a:moveTo>
                <a:lnTo>
                  <a:pt x="1451472" y="0"/>
                </a:lnTo>
                <a:lnTo>
                  <a:pt x="1451472" y="1839538"/>
                </a:lnTo>
                <a:lnTo>
                  <a:pt x="0" y="18395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Box 28"/>
          <p:cNvSpPr txBox="1"/>
          <p:nvPr/>
        </p:nvSpPr>
        <p:spPr>
          <a:xfrm>
            <a:off x="1233403" y="2956263"/>
            <a:ext cx="2952750" cy="51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3"/>
              </a:lnSpc>
            </a:pPr>
            <a:r>
              <a:rPr lang="en-US" sz="3037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Frontend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61950" y="2965788"/>
            <a:ext cx="307106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Autenticación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90289" y="2965788"/>
            <a:ext cx="30861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Backend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84425" y="2965788"/>
            <a:ext cx="300706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Base de datos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31637" y="6154428"/>
            <a:ext cx="2318504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Supabase Auth (PKCE) + RLS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35407" y="6768473"/>
            <a:ext cx="2705100" cy="113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PostgreSQL con RLS (Row Level Security)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89440" y="6317178"/>
            <a:ext cx="2287797" cy="151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8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API REST automática de Supabase (PostgREST)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262939" y="2769624"/>
            <a:ext cx="3086100" cy="6072648"/>
            <a:chOff x="0" y="0"/>
            <a:chExt cx="812800" cy="159938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1599381"/>
            </a:xfrm>
            <a:custGeom>
              <a:avLst/>
              <a:gdLst/>
              <a:ahLst/>
              <a:cxnLst/>
              <a:rect l="l" t="t" r="r" b="b"/>
              <a:pathLst>
                <a:path w="812800" h="1599381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556734"/>
                  </a:lnTo>
                  <a:cubicBezTo>
                    <a:pt x="812800" y="1568044"/>
                    <a:pt x="808307" y="1578892"/>
                    <a:pt x="800309" y="1586890"/>
                  </a:cubicBezTo>
                  <a:cubicBezTo>
                    <a:pt x="792311" y="1594888"/>
                    <a:pt x="781464" y="1599381"/>
                    <a:pt x="770153" y="1599381"/>
                  </a:cubicBezTo>
                  <a:lnTo>
                    <a:pt x="42647" y="1599381"/>
                  </a:lnTo>
                  <a:cubicBezTo>
                    <a:pt x="31336" y="1599381"/>
                    <a:pt x="20489" y="1594888"/>
                    <a:pt x="12491" y="1586890"/>
                  </a:cubicBezTo>
                  <a:cubicBezTo>
                    <a:pt x="4493" y="1578892"/>
                    <a:pt x="0" y="1568044"/>
                    <a:pt x="0" y="155673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23B0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812800" cy="1608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272464" y="2965788"/>
            <a:ext cx="300706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Visualización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53439" y="4860356"/>
            <a:ext cx="2705100" cy="36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Recharts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302457" y="6129818"/>
            <a:ext cx="300706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Testing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91539" y="6969657"/>
            <a:ext cx="2705100" cy="75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Jest + React Testing Library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900352"/>
            <a:ext cx="1042538" cy="47625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90600"/>
            <a:ext cx="7637631" cy="73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OBTENIDOS</a:t>
            </a:r>
          </a:p>
        </p:txBody>
      </p:sp>
      <p:sp>
        <p:nvSpPr>
          <p:cNvPr id="9" name="AutoShape 9"/>
          <p:cNvSpPr/>
          <p:nvPr/>
        </p:nvSpPr>
        <p:spPr>
          <a:xfrm>
            <a:off x="1549999" y="5662343"/>
            <a:ext cx="14800551" cy="125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566328" y="2547918"/>
            <a:ext cx="2960110" cy="25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Implementación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funcional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del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sistema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CRUD completo de tickets y respuestas</a:t>
            </a: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10109" y="6357710"/>
            <a:ext cx="2960110" cy="2515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Modelo de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datos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relacional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validado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spcBef>
                <a:spcPct val="0"/>
              </a:spcBef>
            </a:pP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r>
              <a:rPr lang="en-U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Diseño</a:t>
            </a:r>
            <a:r>
              <a:rPr lang="en-U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optimizado</a:t>
            </a:r>
            <a:r>
              <a:rPr lang="en-U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Supabase</a:t>
            </a: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70219" y="2550592"/>
            <a:ext cx="2960110" cy="2069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Visualización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métricas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r>
              <a:rPr lang="en-U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Dashboards </a:t>
            </a:r>
            <a:r>
              <a:rPr lang="en-U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interactivos</a:t>
            </a:r>
            <a:r>
              <a:rPr lang="en-U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con Recharts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30329" y="6357710"/>
            <a:ext cx="2960110" cy="2069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Testing y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validación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r>
              <a:rPr lang="en-U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Cobertura</a:t>
            </a:r>
            <a:r>
              <a:rPr lang="en-U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con Jest y React Testing Library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04184" y="2493437"/>
            <a:ext cx="3532620" cy="2069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buenas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prácticas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Autenticación por rol (</a:t>
            </a: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Supabase</a:t>
            </a: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Auth</a:t>
            </a: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+ RLS)</a:t>
            </a: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2619934" y="5264765"/>
            <a:ext cx="820240" cy="82024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80044" y="5264765"/>
            <a:ext cx="820240" cy="82024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40154" y="5264765"/>
            <a:ext cx="820240" cy="82024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500264" y="5264765"/>
            <a:ext cx="820240" cy="82024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460374" y="5264765"/>
            <a:ext cx="820240" cy="82024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900352"/>
            <a:ext cx="1042538" cy="47625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7A3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90600"/>
            <a:ext cx="15970470" cy="73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OBSTÁCULOS PRESENTADOS DURANTE EL DESARROLLO</a:t>
            </a:r>
          </a:p>
        </p:txBody>
      </p:sp>
      <p:sp>
        <p:nvSpPr>
          <p:cNvPr id="9" name="AutoShape 9"/>
          <p:cNvSpPr/>
          <p:nvPr/>
        </p:nvSpPr>
        <p:spPr>
          <a:xfrm>
            <a:off x="1549999" y="5662343"/>
            <a:ext cx="14800551" cy="125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643360" y="2563117"/>
            <a:ext cx="4773388" cy="202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Sincronización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Usuarios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entre Auth y Base de Datos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Triggers</a:t>
            </a: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automáticos en PostgreSQL</a:t>
            </a: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740954" y="6352747"/>
            <a:ext cx="4498419" cy="1790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Cálculo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Métricas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Agregadas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(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Rendimiento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ctr">
              <a:spcBef>
                <a:spcPct val="0"/>
              </a:spcBef>
            </a:pPr>
            <a:endParaRPr lang="es-E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Optimización de </a:t>
            </a: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queries</a:t>
            </a: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y vistas materializadas</a:t>
            </a: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703683" y="2563117"/>
            <a:ext cx="4493181" cy="202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Validación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Archivos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Subidos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(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ctr">
              <a:lnSpc>
                <a:spcPts val="4055"/>
              </a:lnSpc>
              <a:spcBef>
                <a:spcPct val="0"/>
              </a:spcBef>
            </a:pP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055"/>
              </a:lnSpc>
              <a:spcBef>
                <a:spcPct val="0"/>
              </a:spcBef>
            </a:pP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Validación en </a:t>
            </a: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frontend</a:t>
            </a: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backend</a:t>
            </a: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10348" y="6370008"/>
            <a:ext cx="4200071" cy="158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Manejo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Errores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de RLS (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Políticas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ctr">
              <a:spcBef>
                <a:spcPct val="0"/>
              </a:spcBef>
            </a:pP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Depuración y ajuste de políticas RLS</a:t>
            </a: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20504" y="2563117"/>
            <a:ext cx="4678665" cy="2075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Migración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Arquitectura</a:t>
            </a:r>
            <a:r>
              <a:rPr lang="en-US" sz="2896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896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Autenticación</a:t>
            </a: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endParaRPr lang="en-US" sz="2896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spcBef>
                <a:spcPct val="0"/>
              </a:spcBef>
            </a:pP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Migración de </a:t>
            </a: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NextAuth</a:t>
            </a: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Supabase</a:t>
            </a:r>
            <a:r>
              <a:rPr lang="es-ES" sz="1600" dirty="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s-ES" sz="1600" dirty="0" err="1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Auth</a:t>
            </a:r>
            <a:endParaRPr lang="en-US" sz="1600" dirty="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2619934" y="5264765"/>
            <a:ext cx="820240" cy="82024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80044" y="5264765"/>
            <a:ext cx="820240" cy="82024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40154" y="5264765"/>
            <a:ext cx="820240" cy="82024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500264" y="5264765"/>
            <a:ext cx="820240" cy="82024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460374" y="5264765"/>
            <a:ext cx="820240" cy="82024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A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442167" y="3233584"/>
            <a:ext cx="2651460" cy="5246370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58" b="-15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3194373" y="3179071"/>
            <a:ext cx="2651460" cy="5246370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158" b="-158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695325"/>
            <a:ext cx="16230600" cy="2137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83"/>
              </a:lnSpc>
              <a:spcBef>
                <a:spcPct val="0"/>
              </a:spcBef>
            </a:pPr>
            <a:r>
              <a:rPr lang="en-US" sz="118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8774113"/>
            <a:ext cx="1623060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PREGUNTAS DE LA COMISIÓN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552" y="2368996"/>
            <a:ext cx="9720894" cy="6812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528</Words>
  <Application>Microsoft Office PowerPoint</Application>
  <PresentationFormat>Personalizado</PresentationFormat>
  <Paragraphs>146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5" baseType="lpstr">
      <vt:lpstr>Aptos</vt:lpstr>
      <vt:lpstr>Open Sans 1</vt:lpstr>
      <vt:lpstr>Montserrat</vt:lpstr>
      <vt:lpstr>Canva Sans</vt:lpstr>
      <vt:lpstr>Arial</vt:lpstr>
      <vt:lpstr>Calibri</vt:lpstr>
      <vt:lpstr>Open Sans 1 Bold</vt:lpstr>
      <vt:lpstr>Open Sans 2 Bold</vt:lpstr>
      <vt:lpstr>Poppins Bold</vt:lpstr>
      <vt:lpstr>Open Sans 2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Mobile Application Presentation</dc:title>
  <cp:lastModifiedBy>Keila Martinez</cp:lastModifiedBy>
  <cp:revision>8</cp:revision>
  <dcterms:created xsi:type="dcterms:W3CDTF">2006-08-16T00:00:00Z</dcterms:created>
  <dcterms:modified xsi:type="dcterms:W3CDTF">2025-12-03T19:12:40Z</dcterms:modified>
  <dc:identifier>DAG6CsUUvlI</dc:identifier>
</cp:coreProperties>
</file>